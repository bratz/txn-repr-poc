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011680"/>
            <a:ext cx="106984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Payment Intelligence on One Model</a:t>
            </a:r>
            <a:endParaRPr lang="en-US" sz="4400" dirty="0"/>
          </a:p>
        </p:txBody>
      </p:sp>
      <p:sp>
        <p:nvSpPr>
          <p:cNvPr id="3" name="Text 1"/>
          <p:cNvSpPr/>
          <p:nvPr/>
        </p:nvSpPr>
        <p:spPr>
          <a:xfrm>
            <a:off x="768096" y="2971800"/>
            <a:ext cx="104241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a payment once — route it, price its risk, predict failures, promise an arrival time.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768096" y="4023360"/>
            <a:ext cx="1828800" cy="640080"/>
          </a:xfrm>
          <a:prstGeom prst="roundRect">
            <a:avLst>
              <a:gd name="adj" fmla="val 11429"/>
            </a:avLst>
          </a:prstGeom>
          <a:solidFill>
            <a:srgbClr val="2A3470"/>
          </a:solidFill>
          <a:ln w="12700">
            <a:solidFill>
              <a:srgbClr val="2A347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13816" y="4023360"/>
            <a:ext cx="17373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Route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2761488" y="4023360"/>
            <a:ext cx="1828800" cy="640080"/>
          </a:xfrm>
          <a:prstGeom prst="roundRect">
            <a:avLst>
              <a:gd name="adj" fmla="val 11429"/>
            </a:avLst>
          </a:prstGeom>
          <a:solidFill>
            <a:srgbClr val="2A3470"/>
          </a:solidFill>
          <a:ln w="12700">
            <a:solidFill>
              <a:srgbClr val="2A347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2807208" y="4023360"/>
            <a:ext cx="17373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Flag risk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4754880" y="4023360"/>
            <a:ext cx="1828800" cy="640080"/>
          </a:xfrm>
          <a:prstGeom prst="roundRect">
            <a:avLst>
              <a:gd name="adj" fmla="val 11429"/>
            </a:avLst>
          </a:prstGeom>
          <a:solidFill>
            <a:srgbClr val="2A3470"/>
          </a:solidFill>
          <a:ln w="12700">
            <a:solidFill>
              <a:srgbClr val="2A347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800600" y="4023360"/>
            <a:ext cx="17373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Catch failures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6748272" y="4023360"/>
            <a:ext cx="1828800" cy="640080"/>
          </a:xfrm>
          <a:prstGeom prst="roundRect">
            <a:avLst>
              <a:gd name="adj" fmla="val 11429"/>
            </a:avLst>
          </a:prstGeom>
          <a:solidFill>
            <a:srgbClr val="2A3470"/>
          </a:solidFill>
          <a:ln w="12700">
            <a:solidFill>
              <a:srgbClr val="2A347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793992" y="4023360"/>
            <a:ext cx="17373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Promise ETA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8741664" y="4023360"/>
            <a:ext cx="1828800" cy="640080"/>
          </a:xfrm>
          <a:prstGeom prst="roundRect">
            <a:avLst>
              <a:gd name="adj" fmla="val 11429"/>
            </a:avLst>
          </a:prstGeom>
          <a:solidFill>
            <a:srgbClr val="2A3470"/>
          </a:solidFill>
          <a:ln w="12700">
            <a:solidFill>
              <a:srgbClr val="2A347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787384" y="4023360"/>
            <a:ext cx="17373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See ahead</a:t>
            </a:r>
            <a:endParaRPr lang="en-US" sz="1250" dirty="0"/>
          </a:p>
        </p:txBody>
      </p:sp>
      <p:sp>
        <p:nvSpPr>
          <p:cNvPr id="14" name="Text 12"/>
          <p:cNvSpPr/>
          <p:nvPr/>
        </p:nvSpPr>
        <p:spPr>
          <a:xfrm>
            <a:off x="768096" y="6035040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AA6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reusable model across RTGS · NEFT · IMPS · SWIFT — reading the full ISO 20022 lifecycle (pain.001 → pacs.008 → camt.054)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it matters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66928" y="969264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A61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Four operational outcomes — from one model the team builds once.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48640" y="1645920"/>
            <a:ext cx="5440680" cy="2011680"/>
          </a:xfrm>
          <a:prstGeom prst="roundRect">
            <a:avLst>
              <a:gd name="adj" fmla="val 3636"/>
            </a:avLst>
          </a:prstGeom>
          <a:solidFill>
            <a:srgbClr val="F2F5FC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1874520"/>
            <a:ext cx="4937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Fewer failed payments</a:t>
            </a:r>
            <a:endParaRPr lang="en-US" sz="1900" dirty="0"/>
          </a:p>
        </p:txBody>
      </p:sp>
      <p:sp>
        <p:nvSpPr>
          <p:cNvPr id="6" name="Text 4"/>
          <p:cNvSpPr/>
          <p:nvPr/>
        </p:nvSpPr>
        <p:spPr>
          <a:xfrm>
            <a:off x="822960" y="2514600"/>
            <a:ext cx="493776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Catch cap / limit / SLA breaches before submission — not after a customer call.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6217920" y="1645920"/>
            <a:ext cx="5440680" cy="2011680"/>
          </a:xfrm>
          <a:prstGeom prst="roundRect">
            <a:avLst>
              <a:gd name="adj" fmla="val 3636"/>
            </a:avLst>
          </a:prstGeom>
          <a:solidFill>
            <a:srgbClr val="F2F5FC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492240" y="1874520"/>
            <a:ext cx="4937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Faster, kept promises</a:t>
            </a:r>
            <a:endParaRPr lang="en-US" sz="1900" dirty="0"/>
          </a:p>
        </p:txBody>
      </p:sp>
      <p:sp>
        <p:nvSpPr>
          <p:cNvPr id="9" name="Text 7"/>
          <p:cNvSpPr/>
          <p:nvPr/>
        </p:nvSpPr>
        <p:spPr>
          <a:xfrm>
            <a:off x="6492240" y="2514600"/>
            <a:ext cx="493776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Tell the customer when funds land: seconds, minutes, or hours — by rail.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548640" y="3931920"/>
            <a:ext cx="5440680" cy="2011680"/>
          </a:xfrm>
          <a:prstGeom prst="roundRect">
            <a:avLst>
              <a:gd name="adj" fmla="val 3636"/>
            </a:avLst>
          </a:prstGeom>
          <a:solidFill>
            <a:srgbClr val="F2F5FC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22960" y="4160520"/>
            <a:ext cx="4937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Less manual review</a:t>
            </a:r>
            <a:endParaRPr lang="en-US" sz="1900" dirty="0"/>
          </a:p>
        </p:txBody>
      </p:sp>
      <p:sp>
        <p:nvSpPr>
          <p:cNvPr id="12" name="Text 10"/>
          <p:cNvSpPr/>
          <p:nvPr/>
        </p:nvSpPr>
        <p:spPr>
          <a:xfrm>
            <a:off x="822960" y="4800600"/>
            <a:ext cx="493776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Focus analysts on the risky few; auto-categorise the routine many.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6217920" y="3931920"/>
            <a:ext cx="5440680" cy="2011680"/>
          </a:xfrm>
          <a:prstGeom prst="roundRect">
            <a:avLst>
              <a:gd name="adj" fmla="val 3636"/>
            </a:avLst>
          </a:prstGeom>
          <a:solidFill>
            <a:srgbClr val="F2F5FC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92240" y="4160520"/>
            <a:ext cx="4937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Lower build cost</a:t>
            </a:r>
            <a:endParaRPr lang="en-US" sz="1900" dirty="0"/>
          </a:p>
        </p:txBody>
      </p:sp>
      <p:sp>
        <p:nvSpPr>
          <p:cNvPr id="15" name="Text 13"/>
          <p:cNvSpPr/>
          <p:nvPr/>
        </p:nvSpPr>
        <p:spPr>
          <a:xfrm>
            <a:off x="6492240" y="4800600"/>
            <a:ext cx="493776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backbone, many tasks. A new question = a small add-on, not a new model.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Smart routing — send it the right way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66928" y="969264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A61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Pick the fastest rail that will actually clear.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777240" y="141732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A61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SCENARIO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0" y="1417320"/>
            <a:ext cx="2926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A61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PREDICTS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8549640" y="1417320"/>
            <a:ext cx="3017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A61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IT MATTERS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48640" y="1783080"/>
            <a:ext cx="11091672" cy="1078992"/>
          </a:xfrm>
          <a:prstGeom prst="roundRect">
            <a:avLst>
              <a:gd name="adj" fmla="val 5085"/>
            </a:avLst>
          </a:prstGeom>
          <a:solidFill>
            <a:srgbClr val="F2F5FC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77240" y="1874520"/>
            <a:ext cx="4114800" cy="8961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₹60,000, account-to-account, domestic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983480" y="2322576"/>
            <a:ext cx="411480" cy="0"/>
          </a:xfrm>
          <a:prstGeom prst="line">
            <a:avLst/>
          </a:prstGeom>
          <a:noFill/>
          <a:ln w="25400">
            <a:solidFill>
              <a:srgbClr val="1E2761"/>
            </a:solidFill>
            <a:prstDash val="solid"/>
            <a:tailEnd type="triangle"/>
          </a:ln>
        </p:spPr>
      </p:sp>
      <p:sp>
        <p:nvSpPr>
          <p:cNvPr id="10" name="Text 8"/>
          <p:cNvSpPr/>
          <p:nvPr/>
        </p:nvSpPr>
        <p:spPr>
          <a:xfrm>
            <a:off x="5486400" y="1874520"/>
            <a:ext cx="2926080" cy="8961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IMPS or NEFT — amount-band choice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8549640" y="1874520"/>
            <a:ext cx="3017520" cy="8961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61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Fastest valid rail, no cap breach, no guesswork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548640" y="3008376"/>
            <a:ext cx="11091672" cy="1078992"/>
          </a:xfrm>
          <a:prstGeom prst="roundRect">
            <a:avLst>
              <a:gd name="adj" fmla="val 5085"/>
            </a:avLst>
          </a:prstGeom>
          <a:solidFill>
            <a:srgbClr val="F2F5FC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77240" y="3099816"/>
            <a:ext cx="4114800" cy="8961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₹3,00,000, domestic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4983480" y="3547872"/>
            <a:ext cx="411480" cy="0"/>
          </a:xfrm>
          <a:prstGeom prst="line">
            <a:avLst/>
          </a:prstGeom>
          <a:noFill/>
          <a:ln w="25400">
            <a:solidFill>
              <a:srgbClr val="1E2761"/>
            </a:solidFill>
            <a:prstDash val="solid"/>
            <a:tailEnd type="triangle"/>
          </a:ln>
        </p:spPr>
      </p:sp>
      <p:sp>
        <p:nvSpPr>
          <p:cNvPr id="15" name="Text 13"/>
          <p:cNvSpPr/>
          <p:nvPr/>
        </p:nvSpPr>
        <p:spPr>
          <a:xfrm>
            <a:off x="5486400" y="3099816"/>
            <a:ext cx="2926080" cy="8961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RTGS-eligible (≥ ₹2 lakh)</a:t>
            </a:r>
            <a:endParaRPr lang="en-US" sz="1350" dirty="0"/>
          </a:p>
        </p:txBody>
      </p:sp>
      <p:sp>
        <p:nvSpPr>
          <p:cNvPr id="16" name="Text 14"/>
          <p:cNvSpPr/>
          <p:nvPr/>
        </p:nvSpPr>
        <p:spPr>
          <a:xfrm>
            <a:off x="8549640" y="3099816"/>
            <a:ext cx="3017520" cy="8961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61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Right rail for high-value, real-time settlement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548640" y="4233672"/>
            <a:ext cx="11091672" cy="1078992"/>
          </a:xfrm>
          <a:prstGeom prst="roundRect">
            <a:avLst>
              <a:gd name="adj" fmla="val 5085"/>
            </a:avLst>
          </a:prstGeom>
          <a:solidFill>
            <a:srgbClr val="F2F5FC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" y="4325112"/>
            <a:ext cx="4114800" cy="8961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$125,000, India → US, BIC/IBAN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4983480" y="4773168"/>
            <a:ext cx="411480" cy="0"/>
          </a:xfrm>
          <a:prstGeom prst="line">
            <a:avLst/>
          </a:prstGeom>
          <a:noFill/>
          <a:ln w="25400">
            <a:solidFill>
              <a:srgbClr val="1E2761"/>
            </a:solidFill>
            <a:prstDash val="solid"/>
            <a:tailEnd type="triangle"/>
          </a:ln>
        </p:spPr>
      </p:sp>
      <p:sp>
        <p:nvSpPr>
          <p:cNvPr id="20" name="Text 18"/>
          <p:cNvSpPr/>
          <p:nvPr/>
        </p:nvSpPr>
        <p:spPr>
          <a:xfrm>
            <a:off x="5486400" y="4325112"/>
            <a:ext cx="2926080" cy="8961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SWIFT (cross-border) — confidence 1.00</a:t>
            </a:r>
            <a:endParaRPr lang="en-US" sz="1350" dirty="0"/>
          </a:p>
        </p:txBody>
      </p:sp>
      <p:sp>
        <p:nvSpPr>
          <p:cNvPr id="21" name="Text 19"/>
          <p:cNvSpPr/>
          <p:nvPr/>
        </p:nvSpPr>
        <p:spPr>
          <a:xfrm>
            <a:off x="8549640" y="4325112"/>
            <a:ext cx="3017520" cy="8961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61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Correctly separates cross-border from domestic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Catch failures before they happen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66928" y="969264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A61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prevented reject is a call avoided and a customer kept.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777240" y="141732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A61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SCENARIO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0" y="1417320"/>
            <a:ext cx="2926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A61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PREDICTS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8549640" y="1417320"/>
            <a:ext cx="3017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A61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IT MATTERS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48640" y="1783080"/>
            <a:ext cx="11091672" cy="1078992"/>
          </a:xfrm>
          <a:prstGeom prst="roundRect">
            <a:avLst>
              <a:gd name="adj" fmla="val 5085"/>
            </a:avLst>
          </a:prstGeom>
          <a:solidFill>
            <a:srgbClr val="F2F5FC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77240" y="1874520"/>
            <a:ext cx="4114800" cy="8961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₹7.5 lakh attempted via IMPS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983480" y="2322576"/>
            <a:ext cx="411480" cy="0"/>
          </a:xfrm>
          <a:prstGeom prst="line">
            <a:avLst/>
          </a:prstGeom>
          <a:noFill/>
          <a:ln w="25400">
            <a:solidFill>
              <a:srgbClr val="1E2761"/>
            </a:solidFill>
            <a:prstDash val="solid"/>
            <a:tailEnd type="triangle"/>
          </a:ln>
        </p:spPr>
      </p:sp>
      <p:sp>
        <p:nvSpPr>
          <p:cNvPr id="10" name="Text 8"/>
          <p:cNvSpPr/>
          <p:nvPr/>
        </p:nvSpPr>
        <p:spPr>
          <a:xfrm>
            <a:off x="5486400" y="1874520"/>
            <a:ext cx="2926080" cy="8961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Breaches the ₹5L IMPS cap → guaranteed reject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8549640" y="1874520"/>
            <a:ext cx="3017520" cy="8961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61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Deterministic intake guard — blocked before submission, right tool not guesswork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548640" y="3008376"/>
            <a:ext cx="11091672" cy="1078992"/>
          </a:xfrm>
          <a:prstGeom prst="roundRect">
            <a:avLst>
              <a:gd name="adj" fmla="val 5085"/>
            </a:avLst>
          </a:prstGeom>
          <a:solidFill>
            <a:srgbClr val="F2F5FC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77240" y="3099816"/>
            <a:ext cx="4114800" cy="8961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₹50,000 sent via RTGS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4983480" y="3547872"/>
            <a:ext cx="411480" cy="0"/>
          </a:xfrm>
          <a:prstGeom prst="line">
            <a:avLst/>
          </a:prstGeom>
          <a:noFill/>
          <a:ln w="25400">
            <a:solidFill>
              <a:srgbClr val="1E2761"/>
            </a:solidFill>
            <a:prstDash val="solid"/>
            <a:tailEnd type="triangle"/>
          </a:ln>
        </p:spPr>
      </p:sp>
      <p:sp>
        <p:nvSpPr>
          <p:cNvPr id="15" name="Text 13"/>
          <p:cNvSpPr/>
          <p:nvPr/>
        </p:nvSpPr>
        <p:spPr>
          <a:xfrm>
            <a:off x="5486400" y="3099816"/>
            <a:ext cx="2926080" cy="8961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Below the ₹2 lakh RTGS floor → reject</a:t>
            </a:r>
            <a:endParaRPr lang="en-US" sz="1350" dirty="0"/>
          </a:p>
        </p:txBody>
      </p:sp>
      <p:sp>
        <p:nvSpPr>
          <p:cNvPr id="16" name="Text 14"/>
          <p:cNvSpPr/>
          <p:nvPr/>
        </p:nvSpPr>
        <p:spPr>
          <a:xfrm>
            <a:off x="8549640" y="3099816"/>
            <a:ext cx="3017520" cy="8961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61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Stop it before it leaves the building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548640" y="4233672"/>
            <a:ext cx="11091672" cy="1078992"/>
          </a:xfrm>
          <a:prstGeom prst="roundRect">
            <a:avLst>
              <a:gd name="adj" fmla="val 5085"/>
            </a:avLst>
          </a:prstGeom>
          <a:solidFill>
            <a:srgbClr val="F2F5FC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" y="4325112"/>
            <a:ext cx="4114800" cy="8961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Instant payment, beneficiary bank slow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4983480" y="4773168"/>
            <a:ext cx="411480" cy="0"/>
          </a:xfrm>
          <a:prstGeom prst="line">
            <a:avLst/>
          </a:prstGeom>
          <a:noFill/>
          <a:ln w="25400">
            <a:solidFill>
              <a:srgbClr val="1E2761"/>
            </a:solidFill>
            <a:prstDash val="solid"/>
            <a:tailEnd type="triangle"/>
          </a:ln>
        </p:spPr>
      </p:sp>
      <p:sp>
        <p:nvSpPr>
          <p:cNvPr id="20" name="Text 18"/>
          <p:cNvSpPr/>
          <p:nvPr/>
        </p:nvSpPr>
        <p:spPr>
          <a:xfrm>
            <a:off x="5486400" y="4325112"/>
            <a:ext cx="2926080" cy="8961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Elevated SLA-breach / technical-decline risk</a:t>
            </a:r>
            <a:endParaRPr lang="en-US" sz="1350" dirty="0"/>
          </a:p>
        </p:txBody>
      </p:sp>
      <p:sp>
        <p:nvSpPr>
          <p:cNvPr id="21" name="Text 19"/>
          <p:cNvSpPr/>
          <p:nvPr/>
        </p:nvSpPr>
        <p:spPr>
          <a:xfrm>
            <a:off x="8549640" y="4325112"/>
            <a:ext cx="3017520" cy="8961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61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pre-empts the timeout; set retry / fallback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Promise an arrival time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66928" y="969264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A61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Accurate settlement promises — and liquidity planning.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777240" y="141732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A61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SCENARIO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0" y="1417320"/>
            <a:ext cx="2926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A61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PREDICTS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8549640" y="1417320"/>
            <a:ext cx="3017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A61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IT MATTERS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48640" y="1783080"/>
            <a:ext cx="11091672" cy="1078992"/>
          </a:xfrm>
          <a:prstGeom prst="roundRect">
            <a:avLst>
              <a:gd name="adj" fmla="val 5085"/>
            </a:avLst>
          </a:prstGeom>
          <a:solidFill>
            <a:srgbClr val="F2F5FC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77240" y="1874520"/>
            <a:ext cx="4114800" cy="8961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IMPS payment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983480" y="2322576"/>
            <a:ext cx="411480" cy="0"/>
          </a:xfrm>
          <a:prstGeom prst="line">
            <a:avLst/>
          </a:prstGeom>
          <a:noFill/>
          <a:ln w="25400">
            <a:solidFill>
              <a:srgbClr val="1E2761"/>
            </a:solidFill>
            <a:prstDash val="solid"/>
            <a:tailEnd type="triangle"/>
          </a:ln>
        </p:spPr>
      </p:sp>
      <p:sp>
        <p:nvSpPr>
          <p:cNvPr id="10" name="Text 8"/>
          <p:cNvSpPr/>
          <p:nvPr/>
        </p:nvSpPr>
        <p:spPr>
          <a:xfrm>
            <a:off x="5486400" y="1874520"/>
            <a:ext cx="2926080" cy="8961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Seconds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8549640" y="1874520"/>
            <a:ext cx="3017520" cy="8961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61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Real-time confirmation to the customer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548640" y="3008376"/>
            <a:ext cx="11091672" cy="1078992"/>
          </a:xfrm>
          <a:prstGeom prst="roundRect">
            <a:avLst>
              <a:gd name="adj" fmla="val 5085"/>
            </a:avLst>
          </a:prstGeom>
          <a:solidFill>
            <a:srgbClr val="F2F5FC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77240" y="3099816"/>
            <a:ext cx="4114800" cy="8961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NEFT payment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4983480" y="3547872"/>
            <a:ext cx="411480" cy="0"/>
          </a:xfrm>
          <a:prstGeom prst="line">
            <a:avLst/>
          </a:prstGeom>
          <a:noFill/>
          <a:ln w="25400">
            <a:solidFill>
              <a:srgbClr val="1E2761"/>
            </a:solidFill>
            <a:prstDash val="solid"/>
            <a:tailEnd type="triangle"/>
          </a:ln>
        </p:spPr>
      </p:sp>
      <p:sp>
        <p:nvSpPr>
          <p:cNvPr id="15" name="Text 13"/>
          <p:cNvSpPr/>
          <p:nvPr/>
        </p:nvSpPr>
        <p:spPr>
          <a:xfrm>
            <a:off x="5486400" y="3099816"/>
            <a:ext cx="2926080" cy="8961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~15 minutes (next batch)</a:t>
            </a:r>
            <a:endParaRPr lang="en-US" sz="1350" dirty="0"/>
          </a:p>
        </p:txBody>
      </p:sp>
      <p:sp>
        <p:nvSpPr>
          <p:cNvPr id="16" name="Text 14"/>
          <p:cNvSpPr/>
          <p:nvPr/>
        </p:nvSpPr>
        <p:spPr>
          <a:xfrm>
            <a:off x="8549640" y="3099816"/>
            <a:ext cx="3017520" cy="8961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61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 the right expectation, no support ticket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548640" y="4233672"/>
            <a:ext cx="11091672" cy="1078992"/>
          </a:xfrm>
          <a:prstGeom prst="roundRect">
            <a:avLst>
              <a:gd name="adj" fmla="val 5085"/>
            </a:avLst>
          </a:prstGeom>
          <a:solidFill>
            <a:srgbClr val="F2F5FC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" y="4325112"/>
            <a:ext cx="4114800" cy="8961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SWIFT, cross-border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4983480" y="4773168"/>
            <a:ext cx="411480" cy="0"/>
          </a:xfrm>
          <a:prstGeom prst="line">
            <a:avLst/>
          </a:prstGeom>
          <a:noFill/>
          <a:ln w="25400">
            <a:solidFill>
              <a:srgbClr val="1E2761"/>
            </a:solidFill>
            <a:prstDash val="solid"/>
            <a:tailEnd type="triangle"/>
          </a:ln>
        </p:spPr>
      </p:sp>
      <p:sp>
        <p:nvSpPr>
          <p:cNvPr id="20" name="Text 18"/>
          <p:cNvSpPr/>
          <p:nvPr/>
        </p:nvSpPr>
        <p:spPr>
          <a:xfrm>
            <a:off x="5486400" y="4325112"/>
            <a:ext cx="2926080" cy="8961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~22 hours (correspondent chain)</a:t>
            </a:r>
            <a:endParaRPr lang="en-US" sz="1350" dirty="0"/>
          </a:p>
        </p:txBody>
      </p:sp>
      <p:sp>
        <p:nvSpPr>
          <p:cNvPr id="21" name="Text 19"/>
          <p:cNvSpPr/>
          <p:nvPr/>
        </p:nvSpPr>
        <p:spPr>
          <a:xfrm>
            <a:off x="8549640" y="4325112"/>
            <a:ext cx="3017520" cy="8961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61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 funding &amp; FX; promise a realistic date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548640" y="5760720"/>
            <a:ext cx="11064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5A61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Measured (held-out): ETA error 184 min vs a 232-min naive baseline — available at initiation (pain.001), before clearing.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Risk &amp; compliance triage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66928" y="969264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A61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Point scarce analyst time at the few that need it.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777240" y="141732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A61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SCENARIO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0" y="1417320"/>
            <a:ext cx="2926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A61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PREDICTS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8549640" y="1417320"/>
            <a:ext cx="3017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A61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IT MATTERS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48640" y="1783080"/>
            <a:ext cx="11091672" cy="1078992"/>
          </a:xfrm>
          <a:prstGeom prst="roundRect">
            <a:avLst>
              <a:gd name="adj" fmla="val 5085"/>
            </a:avLst>
          </a:prstGeom>
          <a:solidFill>
            <a:srgbClr val="F2F5FC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77240" y="1874520"/>
            <a:ext cx="4114800" cy="8961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₹30 lakh, cross-border, financial counterparty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983480" y="2322576"/>
            <a:ext cx="411480" cy="0"/>
          </a:xfrm>
          <a:prstGeom prst="line">
            <a:avLst/>
          </a:prstGeom>
          <a:noFill/>
          <a:ln w="25400">
            <a:solidFill>
              <a:srgbClr val="1E2761"/>
            </a:solidFill>
            <a:prstDash val="solid"/>
            <a:tailEnd type="triangle"/>
          </a:ln>
        </p:spPr>
      </p:sp>
      <p:sp>
        <p:nvSpPr>
          <p:cNvPr id="10" name="Text 8"/>
          <p:cNvSpPr/>
          <p:nvPr/>
        </p:nvSpPr>
        <p:spPr>
          <a:xfrm>
            <a:off x="5486400" y="1874520"/>
            <a:ext cx="2926080" cy="8961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 risk + International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8549640" y="1874520"/>
            <a:ext cx="3017520" cy="8961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61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Route to enhanced due diligence / AML review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548640" y="3008376"/>
            <a:ext cx="11091672" cy="1078992"/>
          </a:xfrm>
          <a:prstGeom prst="roundRect">
            <a:avLst>
              <a:gd name="adj" fmla="val 5085"/>
            </a:avLst>
          </a:prstGeom>
          <a:solidFill>
            <a:srgbClr val="F2F5FC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77240" y="3099816"/>
            <a:ext cx="4114800" cy="8961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Cross-border to a sanctioned-exposure region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4983480" y="3547872"/>
            <a:ext cx="411480" cy="0"/>
          </a:xfrm>
          <a:prstGeom prst="line">
            <a:avLst/>
          </a:prstGeom>
          <a:noFill/>
          <a:ln w="25400">
            <a:solidFill>
              <a:srgbClr val="1E2761"/>
            </a:solidFill>
            <a:prstDash val="solid"/>
            <a:tailEnd type="triangle"/>
          </a:ln>
        </p:spPr>
      </p:sp>
      <p:sp>
        <p:nvSpPr>
          <p:cNvPr id="15" name="Text 13"/>
          <p:cNvSpPr/>
          <p:nvPr/>
        </p:nvSpPr>
        <p:spPr>
          <a:xfrm>
            <a:off x="5486400" y="3099816"/>
            <a:ext cx="2926080" cy="8961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Flags a sanctions-screening hit</a:t>
            </a:r>
            <a:endParaRPr lang="en-US" sz="1350" dirty="0"/>
          </a:p>
        </p:txBody>
      </p:sp>
      <p:sp>
        <p:nvSpPr>
          <p:cNvPr id="16" name="Text 14"/>
          <p:cNvSpPr/>
          <p:nvPr/>
        </p:nvSpPr>
        <p:spPr>
          <a:xfrm>
            <a:off x="8549640" y="3099816"/>
            <a:ext cx="3017520" cy="8961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61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Hold and case-manage before settlement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548640" y="4233672"/>
            <a:ext cx="11091672" cy="1078992"/>
          </a:xfrm>
          <a:prstGeom prst="roundRect">
            <a:avLst>
              <a:gd name="adj" fmla="val 5085"/>
            </a:avLst>
          </a:prstGeom>
          <a:solidFill>
            <a:srgbClr val="F2F5FC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" y="4325112"/>
            <a:ext cx="4114800" cy="8961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Payment to a software vendor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4983480" y="4773168"/>
            <a:ext cx="411480" cy="0"/>
          </a:xfrm>
          <a:prstGeom prst="line">
            <a:avLst/>
          </a:prstGeom>
          <a:noFill/>
          <a:ln w="25400">
            <a:solidFill>
              <a:srgbClr val="1E2761"/>
            </a:solidFill>
            <a:prstDash val="solid"/>
            <a:tailEnd type="triangle"/>
          </a:ln>
        </p:spPr>
      </p:sp>
      <p:sp>
        <p:nvSpPr>
          <p:cNvPr id="20" name="Text 18"/>
          <p:cNvSpPr/>
          <p:nvPr/>
        </p:nvSpPr>
        <p:spPr>
          <a:xfrm>
            <a:off x="5486400" y="4325112"/>
            <a:ext cx="2926080" cy="8961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Spend category: Technology</a:t>
            </a:r>
            <a:endParaRPr lang="en-US" sz="1350" dirty="0"/>
          </a:p>
        </p:txBody>
      </p:sp>
      <p:sp>
        <p:nvSpPr>
          <p:cNvPr id="21" name="Text 19"/>
          <p:cNvSpPr/>
          <p:nvPr/>
        </p:nvSpPr>
        <p:spPr>
          <a:xfrm>
            <a:off x="8549640" y="4325112"/>
            <a:ext cx="3017520" cy="8961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61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Auto-categorise for finance — no manual coding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See the payment's future (in-flight)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66928" y="969264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A61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digital twin of the payment lifecycle — predict the next step, not just the last.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777240" y="141732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A61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SCENARIO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0" y="1417320"/>
            <a:ext cx="2926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A61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PREDICTS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8549640" y="1417320"/>
            <a:ext cx="3017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A61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IT MATTERS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48640" y="1783080"/>
            <a:ext cx="11091672" cy="1078992"/>
          </a:xfrm>
          <a:prstGeom prst="roundRect">
            <a:avLst>
              <a:gd name="adj" fmla="val 5085"/>
            </a:avLst>
          </a:prstGeom>
          <a:solidFill>
            <a:srgbClr val="F2F5FC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77240" y="1874520"/>
            <a:ext cx="4114800" cy="8961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Payment cleared validation &amp; enrichment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983480" y="2322576"/>
            <a:ext cx="411480" cy="0"/>
          </a:xfrm>
          <a:prstGeom prst="line">
            <a:avLst/>
          </a:prstGeom>
          <a:noFill/>
          <a:ln w="25400">
            <a:solidFill>
              <a:srgbClr val="1E2761"/>
            </a:solidFill>
            <a:prstDash val="solid"/>
            <a:tailEnd type="triangle"/>
          </a:ln>
        </p:spPr>
      </p:sp>
      <p:sp>
        <p:nvSpPr>
          <p:cNvPr id="10" name="Text 8"/>
          <p:cNvSpPr/>
          <p:nvPr/>
        </p:nvSpPr>
        <p:spPr>
          <a:xfrm>
            <a:off x="5486400" y="1874520"/>
            <a:ext cx="2926080" cy="8961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 step likely to hit a sanctions hold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8549640" y="1874520"/>
            <a:ext cx="3017520" cy="8961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61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Pre-stage the case; staff ahead of the queue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548640" y="3008376"/>
            <a:ext cx="11091672" cy="1078992"/>
          </a:xfrm>
          <a:prstGeom prst="roundRect">
            <a:avLst>
              <a:gd name="adj" fmla="val 5085"/>
            </a:avLst>
          </a:prstGeom>
          <a:solidFill>
            <a:srgbClr val="F2F5FC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77240" y="3099816"/>
            <a:ext cx="4114800" cy="8961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Inward payment, account resolution pending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4983480" y="3547872"/>
            <a:ext cx="411480" cy="0"/>
          </a:xfrm>
          <a:prstGeom prst="line">
            <a:avLst/>
          </a:prstGeom>
          <a:noFill/>
          <a:ln w="25400">
            <a:solidFill>
              <a:srgbClr val="1E2761"/>
            </a:solidFill>
            <a:prstDash val="solid"/>
            <a:tailEnd type="triangle"/>
          </a:ln>
        </p:spPr>
      </p:sp>
      <p:sp>
        <p:nvSpPr>
          <p:cNvPr id="15" name="Text 13"/>
          <p:cNvSpPr/>
          <p:nvPr/>
        </p:nvSpPr>
        <p:spPr>
          <a:xfrm>
            <a:off x="5486400" y="3099816"/>
            <a:ext cx="2926080" cy="8961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Elevated 'account not found' risk</a:t>
            </a:r>
            <a:endParaRPr lang="en-US" sz="1350" dirty="0"/>
          </a:p>
        </p:txBody>
      </p:sp>
      <p:sp>
        <p:nvSpPr>
          <p:cNvPr id="16" name="Text 14"/>
          <p:cNvSpPr/>
          <p:nvPr/>
        </p:nvSpPr>
        <p:spPr>
          <a:xfrm>
            <a:off x="8549640" y="3099816"/>
            <a:ext cx="3017520" cy="8961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61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Proactively confirm details before posting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548640" y="4233672"/>
            <a:ext cx="11091672" cy="1078992"/>
          </a:xfrm>
          <a:prstGeom prst="roundRect">
            <a:avLst>
              <a:gd name="adj" fmla="val 5085"/>
            </a:avLst>
          </a:prstGeom>
          <a:solidFill>
            <a:srgbClr val="F2F5FC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" y="4325112"/>
            <a:ext cx="4114800" cy="8961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High-value outward, settlement step ahead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4983480" y="4773168"/>
            <a:ext cx="411480" cy="0"/>
          </a:xfrm>
          <a:prstGeom prst="line">
            <a:avLst/>
          </a:prstGeom>
          <a:noFill/>
          <a:ln w="25400">
            <a:solidFill>
              <a:srgbClr val="1E2761"/>
            </a:solidFill>
            <a:prstDash val="solid"/>
            <a:tailEnd type="triangle"/>
          </a:ln>
        </p:spPr>
      </p:sp>
      <p:sp>
        <p:nvSpPr>
          <p:cNvPr id="20" name="Text 18"/>
          <p:cNvSpPr/>
          <p:nvPr/>
        </p:nvSpPr>
        <p:spPr>
          <a:xfrm>
            <a:off x="5486400" y="4325112"/>
            <a:ext cx="2926080" cy="8961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Liquidity / cover shortfall risk</a:t>
            </a:r>
            <a:endParaRPr lang="en-US" sz="1350" dirty="0"/>
          </a:p>
        </p:txBody>
      </p:sp>
      <p:sp>
        <p:nvSpPr>
          <p:cNvPr id="21" name="Text 19"/>
          <p:cNvSpPr/>
          <p:nvPr/>
        </p:nvSpPr>
        <p:spPr>
          <a:xfrm>
            <a:off x="8549640" y="4325112"/>
            <a:ext cx="3017520" cy="8961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61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Reserve funding before the rail demands it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548640" y="5760720"/>
            <a:ext cx="11064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5A61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Measured: 'will it credit?' sharpens 0.84 → 0.87 as messages arrive (pain.001 → pacs.008) — plus recall (camt.056) &amp; return (pacs.004) legs modeled end-to-end.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one model — not eight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66928" y="969264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A61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the hard part once; every new question is a small add-on.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480560" y="1554480"/>
            <a:ext cx="3200400" cy="731520"/>
          </a:xfrm>
          <a:prstGeom prst="roundRect">
            <a:avLst>
              <a:gd name="adj" fmla="val 12500"/>
            </a:avLst>
          </a:prstGeom>
          <a:solidFill>
            <a:srgbClr val="1E2761"/>
          </a:solidFill>
          <a:ln/>
        </p:spPr>
      </p:sp>
      <p:sp>
        <p:nvSpPr>
          <p:cNvPr id="5" name="Text 3"/>
          <p:cNvSpPr/>
          <p:nvPr/>
        </p:nvSpPr>
        <p:spPr>
          <a:xfrm>
            <a:off x="4480560" y="1554480"/>
            <a:ext cx="3200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frozen model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822960" y="2651760"/>
            <a:ext cx="2560320" cy="640080"/>
          </a:xfrm>
          <a:prstGeom prst="roundRect">
            <a:avLst>
              <a:gd name="adj" fmla="val 11429"/>
            </a:avLst>
          </a:prstGeom>
          <a:solidFill>
            <a:srgbClr val="F2F5FC"/>
          </a:solidFill>
          <a:ln w="12700">
            <a:solidFill>
              <a:srgbClr val="F2F5FC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68680" y="265176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routing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3566160" y="2651760"/>
            <a:ext cx="2560320" cy="640080"/>
          </a:xfrm>
          <a:prstGeom prst="roundRect">
            <a:avLst>
              <a:gd name="adj" fmla="val 11429"/>
            </a:avLst>
          </a:prstGeom>
          <a:solidFill>
            <a:srgbClr val="F2F5FC"/>
          </a:solidFill>
          <a:ln w="12700">
            <a:solidFill>
              <a:srgbClr val="F2F5F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611880" y="265176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6309360" y="2651760"/>
            <a:ext cx="2560320" cy="640080"/>
          </a:xfrm>
          <a:prstGeom prst="roundRect">
            <a:avLst>
              <a:gd name="adj" fmla="val 11429"/>
            </a:avLst>
          </a:prstGeom>
          <a:solidFill>
            <a:srgbClr val="F2F5FC"/>
          </a:solidFill>
          <a:ln w="12700">
            <a:solidFill>
              <a:srgbClr val="F2F5FC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355080" y="265176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exceptions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9052560" y="2651760"/>
            <a:ext cx="2560320" cy="640080"/>
          </a:xfrm>
          <a:prstGeom prst="roundRect">
            <a:avLst>
              <a:gd name="adj" fmla="val 11429"/>
            </a:avLst>
          </a:prstGeom>
          <a:solidFill>
            <a:srgbClr val="F2F5FC"/>
          </a:solidFill>
          <a:ln w="12700">
            <a:solidFill>
              <a:srgbClr val="F2F5FC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9098280" y="265176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status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822960" y="3493008"/>
            <a:ext cx="2560320" cy="640080"/>
          </a:xfrm>
          <a:prstGeom prst="roundRect">
            <a:avLst>
              <a:gd name="adj" fmla="val 11429"/>
            </a:avLst>
          </a:prstGeom>
          <a:solidFill>
            <a:srgbClr val="F2F5FC"/>
          </a:solidFill>
          <a:ln w="12700">
            <a:solidFill>
              <a:srgbClr val="F2F5FC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68680" y="3493008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ETA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3566160" y="3493008"/>
            <a:ext cx="2560320" cy="640080"/>
          </a:xfrm>
          <a:prstGeom prst="roundRect">
            <a:avLst>
              <a:gd name="adj" fmla="val 11429"/>
            </a:avLst>
          </a:prstGeom>
          <a:solidFill>
            <a:srgbClr val="F2F5FC"/>
          </a:solidFill>
          <a:ln w="12700">
            <a:solidFill>
              <a:srgbClr val="F2F5FC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11880" y="3493008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categorisation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6309360" y="3493008"/>
            <a:ext cx="2560320" cy="640080"/>
          </a:xfrm>
          <a:prstGeom prst="roundRect">
            <a:avLst>
              <a:gd name="adj" fmla="val 11429"/>
            </a:avLst>
          </a:prstGeom>
          <a:solidFill>
            <a:srgbClr val="F2F5FC"/>
          </a:solidFill>
          <a:ln w="12700">
            <a:solidFill>
              <a:srgbClr val="F2F5FC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355080" y="3493008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in-flight twin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9052560" y="3493008"/>
            <a:ext cx="2560320" cy="640080"/>
          </a:xfrm>
          <a:prstGeom prst="roundRect">
            <a:avLst>
              <a:gd name="adj" fmla="val 11429"/>
            </a:avLst>
          </a:prstGeom>
          <a:solidFill>
            <a:srgbClr val="F2F5FC"/>
          </a:solidFill>
          <a:ln w="12700">
            <a:solidFill>
              <a:srgbClr val="F2F5FC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9098280" y="3493008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compliance</a:t>
            </a:r>
            <a:endParaRPr lang="en-US" sz="1250" dirty="0"/>
          </a:p>
        </p:txBody>
      </p:sp>
      <p:sp>
        <p:nvSpPr>
          <p:cNvPr id="22" name="Shape 20"/>
          <p:cNvSpPr/>
          <p:nvPr/>
        </p:nvSpPr>
        <p:spPr>
          <a:xfrm>
            <a:off x="822960" y="4334256"/>
            <a:ext cx="2560320" cy="640080"/>
          </a:xfrm>
          <a:prstGeom prst="roundRect">
            <a:avLst>
              <a:gd name="adj" fmla="val 11429"/>
            </a:avLst>
          </a:prstGeom>
          <a:solidFill>
            <a:srgbClr val="F2F5FC"/>
          </a:solidFill>
          <a:ln w="12700">
            <a:solidFill>
              <a:srgbClr val="F2F5FC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868680" y="4334256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velocity (burst)</a:t>
            </a:r>
            <a:endParaRPr lang="en-US" sz="1250" dirty="0"/>
          </a:p>
        </p:txBody>
      </p:sp>
      <p:sp>
        <p:nvSpPr>
          <p:cNvPr id="24" name="Shape 22"/>
          <p:cNvSpPr/>
          <p:nvPr/>
        </p:nvSpPr>
        <p:spPr>
          <a:xfrm>
            <a:off x="3566160" y="4334256"/>
            <a:ext cx="2560320" cy="640080"/>
          </a:xfrm>
          <a:prstGeom prst="roundRect">
            <a:avLst>
              <a:gd name="adj" fmla="val 11429"/>
            </a:avLst>
          </a:prstGeom>
          <a:solidFill>
            <a:srgbClr val="F2F5FC"/>
          </a:solidFill>
          <a:ln w="12700">
            <a:solidFill>
              <a:srgbClr val="F2F5FC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611880" y="4334256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partial-data infill</a:t>
            </a:r>
            <a:endParaRPr lang="en-US" sz="1250" dirty="0"/>
          </a:p>
        </p:txBody>
      </p:sp>
      <p:sp>
        <p:nvSpPr>
          <p:cNvPr id="26" name="Shape 24"/>
          <p:cNvSpPr/>
          <p:nvPr/>
        </p:nvSpPr>
        <p:spPr>
          <a:xfrm>
            <a:off x="6309360" y="4334256"/>
            <a:ext cx="2560320" cy="640080"/>
          </a:xfrm>
          <a:prstGeom prst="roundRect">
            <a:avLst>
              <a:gd name="adj" fmla="val 11429"/>
            </a:avLst>
          </a:prstGeom>
          <a:solidFill>
            <a:srgbClr val="F2F5FC"/>
          </a:solidFill>
          <a:ln w="12700">
            <a:solidFill>
              <a:srgbClr val="F2F5FC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355080" y="4334256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charges estimate</a:t>
            </a:r>
            <a:endParaRPr lang="en-US" sz="1250" dirty="0"/>
          </a:p>
        </p:txBody>
      </p:sp>
      <p:sp>
        <p:nvSpPr>
          <p:cNvPr id="28" name="Shape 26"/>
          <p:cNvSpPr/>
          <p:nvPr/>
        </p:nvSpPr>
        <p:spPr>
          <a:xfrm>
            <a:off x="9052560" y="4334256"/>
            <a:ext cx="2560320" cy="640080"/>
          </a:xfrm>
          <a:prstGeom prst="roundRect">
            <a:avLst>
              <a:gd name="adj" fmla="val 11429"/>
            </a:avLst>
          </a:prstGeom>
          <a:solidFill>
            <a:srgbClr val="F2F5FC"/>
          </a:solidFill>
          <a:ln w="12700">
            <a:solidFill>
              <a:srgbClr val="F2F5FC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9098280" y="4334256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recall / return risk</a:t>
            </a:r>
            <a:endParaRPr lang="en-US" sz="1250" dirty="0"/>
          </a:p>
        </p:txBody>
      </p:sp>
      <p:sp>
        <p:nvSpPr>
          <p:cNvPr id="30" name="Text 28"/>
          <p:cNvSpPr/>
          <p:nvPr/>
        </p:nvSpPr>
        <p:spPr>
          <a:xfrm>
            <a:off x="822960" y="5349240"/>
            <a:ext cx="10515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~6% </a:t>
            </a:r>
            <a:pPr indent="0" marL="0">
              <a:buNone/>
            </a:pPr>
            <a:r>
              <a:rPr lang="en-US" sz="15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a full model's parameters add a new task — proven param-efficiency (C1), so adding capabilities is cheap and fast.</a:t>
            </a:r>
            <a:endParaRPr lang="en-US" sz="15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Status today — trained &amp; serving on commodity CPU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66928" y="969264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A61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End-to-end on synthetic data; no GPU required at this scale.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3520440" cy="1508760"/>
          </a:xfrm>
          <a:prstGeom prst="roundRect">
            <a:avLst>
              <a:gd name="adj" fmla="val 4848"/>
            </a:avLst>
          </a:prstGeom>
          <a:solidFill>
            <a:srgbClr val="F2F5FC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77240" y="1783080"/>
            <a:ext cx="31089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20,000</a:t>
            </a:r>
            <a:endParaRPr lang="en-US" sz="3200" dirty="0"/>
          </a:p>
        </p:txBody>
      </p:sp>
      <p:sp>
        <p:nvSpPr>
          <p:cNvPr id="6" name="Text 4"/>
          <p:cNvSpPr/>
          <p:nvPr/>
        </p:nvSpPr>
        <p:spPr>
          <a:xfrm>
            <a:off x="777240" y="2542032"/>
            <a:ext cx="3108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payments trained (CPU)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251960" y="1600200"/>
            <a:ext cx="3520440" cy="1508760"/>
          </a:xfrm>
          <a:prstGeom prst="roundRect">
            <a:avLst>
              <a:gd name="adj" fmla="val 4848"/>
            </a:avLst>
          </a:prstGeom>
          <a:solidFill>
            <a:srgbClr val="F2F5FC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480560" y="1783080"/>
            <a:ext cx="31089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100</a:t>
            </a:r>
            <a:endParaRPr lang="en-US" sz="3200" dirty="0"/>
          </a:p>
        </p:txBody>
      </p:sp>
      <p:sp>
        <p:nvSpPr>
          <p:cNvPr id="9" name="Text 7"/>
          <p:cNvSpPr/>
          <p:nvPr/>
        </p:nvSpPr>
        <p:spPr>
          <a:xfrm>
            <a:off x="4480560" y="2542032"/>
            <a:ext cx="3108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held-out test payments scored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7955280" y="1600200"/>
            <a:ext cx="3520440" cy="1508760"/>
          </a:xfrm>
          <a:prstGeom prst="roundRect">
            <a:avLst>
              <a:gd name="adj" fmla="val 4848"/>
            </a:avLst>
          </a:prstGeom>
          <a:solidFill>
            <a:srgbClr val="F2F5FC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183880" y="1783080"/>
            <a:ext cx="31089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CSV → CSV</a:t>
            </a:r>
            <a:endParaRPr lang="en-US" sz="3200" dirty="0"/>
          </a:p>
        </p:txBody>
      </p:sp>
      <p:sp>
        <p:nvSpPr>
          <p:cNvPr id="12" name="Text 10"/>
          <p:cNvSpPr/>
          <p:nvPr/>
        </p:nvSpPr>
        <p:spPr>
          <a:xfrm>
            <a:off x="8183880" y="2542032"/>
            <a:ext cx="3108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input and output files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548640" y="3383280"/>
            <a:ext cx="110642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Held-out n=4,000: rail 0.55 probe vs 0.64 tree (4-class, harder without UPI)  ·  ETA 199 min vs 392 naive  ·  status 0.26 (weak — tree territory, reported openly)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548640" y="3886200"/>
            <a:ext cx="110642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 initiation (pain.001, before clearing): ETA 186 vs 232 naive  ·  charges MAE 97 vs 185  ·  'will it credit' 0.84 → 0.87 as messages arrive.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548640" y="4526280"/>
            <a:ext cx="3566160" cy="640080"/>
          </a:xfrm>
          <a:prstGeom prst="roundRect">
            <a:avLst>
              <a:gd name="adj" fmla="val 11429"/>
            </a:avLst>
          </a:prstGeom>
          <a:solidFill>
            <a:srgbClr val="F2F5FC"/>
          </a:solidFill>
          <a:ln w="12700">
            <a:solidFill>
              <a:srgbClr val="F2F5FC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" y="4526280"/>
            <a:ext cx="3474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full ISO 20022 lifecycle modeled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4251960" y="4526280"/>
            <a:ext cx="3566160" cy="640080"/>
          </a:xfrm>
          <a:prstGeom prst="roundRect">
            <a:avLst>
              <a:gd name="adj" fmla="val 11429"/>
            </a:avLst>
          </a:prstGeom>
          <a:solidFill>
            <a:srgbClr val="F2F5FC"/>
          </a:solidFill>
          <a:ln w="12700">
            <a:solidFill>
              <a:srgbClr val="F2F5FC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297680" y="4526280"/>
            <a:ext cx="3474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recall &amp; return legs (camt.056/pacs.004)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7955280" y="4526280"/>
            <a:ext cx="3685032" cy="640080"/>
          </a:xfrm>
          <a:prstGeom prst="roundRect">
            <a:avLst>
              <a:gd name="adj" fmla="val 11429"/>
            </a:avLst>
          </a:prstGeom>
          <a:solidFill>
            <a:srgbClr val="F2F5FC"/>
          </a:solidFill>
          <a:ln w="12700">
            <a:solidFill>
              <a:srgbClr val="F2F5FC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001000" y="4526280"/>
            <a:ext cx="3593592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charges head · gpi tracker statuses</a:t>
            </a:r>
            <a:endParaRPr lang="en-US" sz="1250" dirty="0"/>
          </a:p>
        </p:txBody>
      </p:sp>
      <p:sp>
        <p:nvSpPr>
          <p:cNvPr id="21" name="Text 19"/>
          <p:cNvSpPr/>
          <p:nvPr/>
        </p:nvSpPr>
        <p:spPr>
          <a:xfrm>
            <a:off x="548640" y="5440680"/>
            <a:ext cx="110642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5A61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Maturity: a working prototype on synthetic data and commodity hardware. Cold-start caveat: brand-new accounts degrade accuracy (identity features matter) — a known focus for the real-data phase. Next: real transaction data, scale, AML / network-graph.</a:t>
            </a:r>
            <a:endParaRPr lang="en-US" sz="12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Actual predictions — a sample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66928" y="969264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A61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of 100 held-out payments · CSV in → CSV out (test_predictions_100.csv).</a:t>
            </a:r>
            <a:endParaRPr lang="en-US" sz="14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645920"/>
          <a:ext cx="11274552" cy="914400"/>
        </p:xfrm>
        <a:graphic>
          <a:graphicData uri="http://schemas.openxmlformats.org/drawingml/2006/table">
            <a:tbl>
              <a:tblPr/>
              <a:tblGrid>
                <a:gridCol w="1600200"/>
                <a:gridCol w="1097280"/>
                <a:gridCol w="1188720"/>
                <a:gridCol w="1965960"/>
                <a:gridCol w="1965960"/>
                <a:gridCol w="1600200"/>
                <a:gridCol w="1856232"/>
              </a:tblGrid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Amount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Scope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True rail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Predicted (conf)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Status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ETA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Top exception risk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833 INR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domestic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IMPS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IMPS (0.60)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STP ✓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 min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sla_breach 0.70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250,799 INR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domestic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RTGS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RTGS (0.83)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MANUAL_REVIEW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 min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account_closed 0.61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248,884 INR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x-border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SWIFT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SWIFT (1.00)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MANUAL_REVIEW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996 min (true 1140)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no_cover 1.00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7,796 INR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domestic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RTGS *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C98A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IMPS (0.60)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REJECTED ✓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 min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below_min 0.63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13,137 INR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domestic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IMPS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C98A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NEFT (0.67)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MANUAL_REVIEW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819 min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sla_breach 0.83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457200" y="4754880"/>
            <a:ext cx="11274552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5A61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 = predicted rail matches truth; ✓ = predicted outcome matched too. Ambers are honest: the 7,796 'RTGS *' arrived mis-routed (below the ₹2L floor) — the model re-routes it AND correctly predicts the reject; 13,137 is genuine IMPS/NEFT overlap (both eligible).</a:t>
            </a:r>
            <a:endParaRPr lang="en-US" sz="1200" dirty="0"/>
          </a:p>
        </p:txBody>
      </p:sp>
      <p:sp>
        <p:nvSpPr>
          <p:cNvPr id="6" name="Text 3"/>
          <p:cNvSpPr/>
          <p:nvPr/>
        </p:nvSpPr>
        <p:spPr>
          <a:xfrm>
            <a:off x="457200" y="5532120"/>
            <a:ext cx="1127455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fresh 100 (known accounts, new payments):  rail 0.59 — 0.64 on cleanly-routed  ·  risk 0.53  ·  status 0.31.  Stable eval (n=4,000): rail 0.55 vs tree 0.64  ·  ETA 199 vs 392 naive.</a:t>
            </a:r>
            <a:endParaRPr lang="en-US" sz="12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640080"/>
            <a:ext cx="106984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Honest about where it stands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777240" y="1737360"/>
            <a:ext cx="31089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CADCF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Proven</a:t>
            </a:r>
            <a:endParaRPr lang="en-US" sz="1700" dirty="0"/>
          </a:p>
        </p:txBody>
      </p:sp>
      <p:sp>
        <p:nvSpPr>
          <p:cNvPr id="4" name="Text 2"/>
          <p:cNvSpPr/>
          <p:nvPr/>
        </p:nvSpPr>
        <p:spPr>
          <a:xfrm>
            <a:off x="4023360" y="1737360"/>
            <a:ext cx="74066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183 automated tests green · reproducible · independently code-reviewed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77240" y="2697480"/>
            <a:ext cx="31089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CADCF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Where it wins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4023360" y="2697480"/>
            <a:ext cx="74066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ETA &amp; charges from the payment itself · in-flight calls from partial (pain.001) data · timing/sequence signals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777240" y="3657600"/>
            <a:ext cx="31089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CADCF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Where a simple tree still wins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4023360" y="3657600"/>
            <a:ext cx="74066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plain feature-rule scoring on complete records — we report this openly and route caps/floors to guards, not guesses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777240" y="4617720"/>
            <a:ext cx="31089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CADCF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Today vs next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4023360" y="4617720"/>
            <a:ext cx="74066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synthetic data today → real transaction data + network/AML graph next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777240" y="5852160"/>
            <a:ext cx="10607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model, many payment decisions — efficient, faithful to the research, honestly measured.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2026-07-02T05:11:08Z</dcterms:created>
  <dcterms:modified xsi:type="dcterms:W3CDTF">2026-07-02T05:11:08Z</dcterms:modified>
</cp:coreProperties>
</file>